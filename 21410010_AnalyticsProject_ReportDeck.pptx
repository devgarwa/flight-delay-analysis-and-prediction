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86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3366"/>
                </a:solidFill>
                <a:latin typeface="Arial"/>
              </a:rPr>
              <a:t>Project Summary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3596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39F1F-29EE-F9F5-15A5-CC21C8238376}"/>
              </a:ext>
            </a:extLst>
          </p:cNvPr>
          <p:cNvSpPr txBox="1"/>
          <p:nvPr/>
        </p:nvSpPr>
        <p:spPr>
          <a:xfrm>
            <a:off x="693162" y="892936"/>
            <a:ext cx="4572000" cy="5601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 Project Title:</a:t>
            </a:r>
          </a:p>
          <a:p>
            <a:r>
              <a:rPr lang="en-US" sz="1400" dirty="0"/>
              <a:t>Optimizing Air Travel — A Data-Driven Approach to Delay Analysis &amp; Prediction</a:t>
            </a:r>
          </a:p>
          <a:p>
            <a:endParaRPr lang="en-US" sz="1400" dirty="0"/>
          </a:p>
          <a:p>
            <a:r>
              <a:rPr lang="en-US" sz="1600" b="1" dirty="0"/>
              <a:t> Business Context:</a:t>
            </a:r>
          </a:p>
          <a:p>
            <a:r>
              <a:rPr lang="en-US" sz="1400" dirty="0"/>
              <a:t>Flight delays cause major operational inefficiencies and customer dissatisfaction in the aviation industry.</a:t>
            </a:r>
          </a:p>
          <a:p>
            <a:r>
              <a:rPr lang="en-US" sz="1400" dirty="0"/>
              <a:t>This project leverages data science to uncover patterns and predict delay behavior to support better decisions.</a:t>
            </a:r>
          </a:p>
          <a:p>
            <a:endParaRPr lang="en-US" sz="1400" dirty="0"/>
          </a:p>
          <a:p>
            <a:r>
              <a:rPr lang="en-US" sz="1600" b="1" dirty="0"/>
              <a:t> Project Objectives:</a:t>
            </a:r>
          </a:p>
          <a:p>
            <a:r>
              <a:rPr lang="en-US" sz="1400" dirty="0"/>
              <a:t>1. Perform Exploratory Data Analysis (EDA) to identify key patterns and root causes of delays.</a:t>
            </a:r>
          </a:p>
          <a:p>
            <a:r>
              <a:rPr lang="en-US" sz="1400" dirty="0"/>
              <a:t>2. Build predictive models (classification &amp; regression) to forecast delay severity and duration.</a:t>
            </a:r>
          </a:p>
          <a:p>
            <a:r>
              <a:rPr lang="en-US" sz="1400" dirty="0"/>
              <a:t>3. Apply SHAP and Operational Adjustability Index (OAI) to generate interpretable, actionable insights.</a:t>
            </a:r>
          </a:p>
          <a:p>
            <a:endParaRPr lang="en-US" sz="1400" dirty="0"/>
          </a:p>
          <a:p>
            <a:r>
              <a:rPr lang="en-US" sz="1600" b="1" dirty="0"/>
              <a:t> Dataset:</a:t>
            </a:r>
          </a:p>
          <a:p>
            <a:r>
              <a:rPr lang="en-US" sz="1400" dirty="0"/>
              <a:t>Monthly aggregated U.S. domestic flight data across all major airlines and airports.</a:t>
            </a:r>
          </a:p>
          <a:p>
            <a:endParaRPr lang="en-US" sz="1400" dirty="0"/>
          </a:p>
          <a:p>
            <a:r>
              <a:rPr lang="en-US" sz="1400" dirty="0"/>
              <a:t>                                    by- </a:t>
            </a:r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Devendra Garwa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(21410010)</a:t>
            </a:r>
          </a:p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                                                GT(5y)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3366"/>
                </a:solidFill>
                <a:latin typeface="Arial"/>
              </a:rPr>
              <a:t>EDA Highlights — Delay Distribution &amp; Trends</a:t>
            </a:r>
          </a:p>
        </p:txBody>
      </p:sp>
      <p:pic>
        <p:nvPicPr>
          <p:cNvPr id="3" name="Picture 2" descr="Avg_delay per f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0080"/>
            <a:ext cx="4909549" cy="3200399"/>
          </a:xfrm>
          <a:prstGeom prst="rect">
            <a:avLst/>
          </a:prstGeom>
        </p:spPr>
      </p:pic>
      <p:pic>
        <p:nvPicPr>
          <p:cNvPr id="4" name="Picture 3" descr="avg-delay-perFlight-perMo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549" y="731520"/>
            <a:ext cx="3934116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4114800"/>
            <a:ext cx="8651240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rPr sz="1400" dirty="0"/>
              <a:t>• Delays are right-skewed; most flights have low delays, few extreme outliers.</a:t>
            </a:r>
          </a:p>
          <a:p>
            <a:r>
              <a:rPr lang="en-US" sz="1400" dirty="0"/>
              <a:t>• The distribution is heavily right-skewed, with most delays under 20 minutes and a few extreme cases causing significant disruption.</a:t>
            </a:r>
          </a:p>
          <a:p>
            <a:r>
              <a:rPr lang="en-US" sz="1400" dirty="0"/>
              <a:t>• Outliers in delay duration, though rare, contribute disproportionately to total delay minutes—warranting special operational attention.</a:t>
            </a:r>
          </a:p>
          <a:p>
            <a:r>
              <a:rPr lang="en-US" sz="1400" dirty="0"/>
              <a:t>• Delay peaks in June and July coincide with summer travel, indicating seasonal strain on the system.</a:t>
            </a:r>
          </a:p>
          <a:p>
            <a:r>
              <a:rPr lang="en-US" sz="1400" dirty="0"/>
              <a:t>• Low delays in the fall suggest operational efficiency or reduced load; airlines can benchmark against this period.</a:t>
            </a:r>
          </a:p>
          <a:p>
            <a:r>
              <a:rPr lang="en-US" sz="1400" dirty="0"/>
              <a:t>• Airlines can proactively prepare for peak months (June–July) through staffing buffers and resource planning.</a:t>
            </a:r>
          </a:p>
          <a:p>
            <a:r>
              <a:rPr lang="en-US" sz="1400" dirty="0"/>
              <a:t>• Fall performance may serve as a baseline for assessing operational improvements.</a:t>
            </a:r>
          </a:p>
          <a:p>
            <a:endParaRPr lang="en-US" sz="1400" dirty="0"/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3366"/>
                </a:solidFill>
                <a:latin typeface="Arial"/>
              </a:rPr>
              <a:t>Root Causes &amp; Operational Impact</a:t>
            </a:r>
          </a:p>
        </p:txBody>
      </p:sp>
      <p:pic>
        <p:nvPicPr>
          <p:cNvPr id="3" name="Picture 2" descr="totalMonthlyDelay-byC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1" y="831273"/>
            <a:ext cx="3299321" cy="3200400"/>
          </a:xfrm>
          <a:prstGeom prst="rect">
            <a:avLst/>
          </a:prstGeom>
        </p:spPr>
      </p:pic>
      <p:pic>
        <p:nvPicPr>
          <p:cNvPr id="4" name="Picture 3" descr="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1582" y="964277"/>
            <a:ext cx="4320783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0933" y="4031673"/>
            <a:ext cx="860213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Late aircraft delay </a:t>
            </a:r>
            <a:r>
              <a:rPr lang="en-US" sz="1400" dirty="0"/>
              <a:t>is the single largest contributor to overall delay minutes, often a knock-on effect from previous delayed flights.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Carrier delays </a:t>
            </a:r>
            <a:r>
              <a:rPr lang="en-US" sz="1400" dirty="0"/>
              <a:t>are operational delays (e.g., crew readiness, baggage loading), making them highly actionable.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NAS (National Aviation System)</a:t>
            </a:r>
            <a:r>
              <a:rPr lang="en-US" sz="1400" dirty="0"/>
              <a:t> delays, while significant, are usually harder to control.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Weather and security delays </a:t>
            </a:r>
            <a:r>
              <a:rPr lang="en-US" sz="1400" dirty="0"/>
              <a:t>are minimal but can still cause cascading effects in severe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Strategic Focus: </a:t>
            </a:r>
            <a:r>
              <a:rPr lang="en-US" sz="1400" dirty="0"/>
              <a:t>Airlines should prioritize reducing late aircraft and carrier delays to maximize impact.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Strong correlation between: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 err="1"/>
              <a:t>carrier_delay</a:t>
            </a:r>
            <a:r>
              <a:rPr lang="en-US" sz="1400" b="1" i="1" dirty="0"/>
              <a:t> </a:t>
            </a:r>
            <a:r>
              <a:rPr lang="en-US" sz="1400" i="1" dirty="0"/>
              <a:t>and </a:t>
            </a:r>
            <a:r>
              <a:rPr lang="en-US" sz="1400" b="1" i="1" dirty="0" err="1"/>
              <a:t>late_aircraft_delay</a:t>
            </a:r>
            <a:r>
              <a:rPr lang="en-US" sz="1400" b="1" i="1" dirty="0"/>
              <a:t> </a:t>
            </a:r>
            <a:r>
              <a:rPr lang="en-US" sz="1400" dirty="0"/>
              <a:t>(suggests propagation of delays across flights).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1" dirty="0" err="1"/>
              <a:t>arr_delay</a:t>
            </a:r>
            <a:r>
              <a:rPr lang="en-US" sz="1400" b="1" i="1" dirty="0"/>
              <a:t> </a:t>
            </a:r>
            <a:r>
              <a:rPr lang="en-US" sz="1400" i="1" dirty="0"/>
              <a:t>and both </a:t>
            </a:r>
            <a:r>
              <a:rPr lang="en-US" sz="1400" b="1" i="1" dirty="0" err="1"/>
              <a:t>carrier_delay</a:t>
            </a:r>
            <a:r>
              <a:rPr lang="en-US" sz="1400" b="1" i="1" dirty="0"/>
              <a:t> </a:t>
            </a:r>
            <a:r>
              <a:rPr lang="en-US" sz="1400" dirty="0"/>
              <a:t>and </a:t>
            </a:r>
            <a:r>
              <a:rPr lang="en-US" sz="1400" b="1" i="1" dirty="0" err="1"/>
              <a:t>late_aircraft_delay</a:t>
            </a:r>
            <a:r>
              <a:rPr lang="en-US" sz="1400" b="1" i="1" dirty="0"/>
              <a:t> </a:t>
            </a:r>
            <a:r>
              <a:rPr lang="en-US" sz="1400" dirty="0"/>
              <a:t>(makes these primary targets for mitigation).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Weak correlations between external causes </a:t>
            </a:r>
            <a:r>
              <a:rPr lang="en-US" sz="1400" i="1" dirty="0"/>
              <a:t>like </a:t>
            </a:r>
            <a:r>
              <a:rPr lang="en-US" sz="1400" i="1" dirty="0" err="1"/>
              <a:t>weather_delay</a:t>
            </a:r>
            <a:r>
              <a:rPr lang="en-US" sz="1400" i="1" dirty="0"/>
              <a:t> </a:t>
            </a:r>
            <a:r>
              <a:rPr lang="en-US" sz="1400" dirty="0"/>
              <a:t>and the rest confirm their randomness.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i="1" dirty="0"/>
              <a:t>High arr_del15 </a:t>
            </a:r>
            <a:r>
              <a:rPr lang="en-US" sz="1400" dirty="0"/>
              <a:t>correlation with total delays reinforces it as a useful derived feature.</a:t>
            </a:r>
            <a:endParaRPr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686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dirty="0">
                <a:solidFill>
                  <a:srgbClr val="003366"/>
                </a:solidFill>
                <a:latin typeface="Arial"/>
              </a:rPr>
              <a:t>Predictive Modeling: Delay Classification &amp;</a:t>
            </a:r>
            <a:r>
              <a:rPr lang="en-IN" sz="2400" b="1" dirty="0">
                <a:solidFill>
                  <a:srgbClr val="003366"/>
                </a:solidFill>
                <a:latin typeface="Arial"/>
              </a:rPr>
              <a:t> </a:t>
            </a:r>
            <a:r>
              <a:rPr sz="2600" b="1" dirty="0">
                <a:solidFill>
                  <a:srgbClr val="003366"/>
                </a:solidFill>
                <a:latin typeface="Arial"/>
              </a:rPr>
              <a:t>Regression</a:t>
            </a:r>
          </a:p>
        </p:txBody>
      </p:sp>
      <p:pic>
        <p:nvPicPr>
          <p:cNvPr id="3" name="Picture 2" descr="Confusion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360"/>
            <a:ext cx="4199206" cy="3200400"/>
          </a:xfrm>
          <a:prstGeom prst="rect">
            <a:avLst/>
          </a:prstGeom>
        </p:spPr>
      </p:pic>
      <p:pic>
        <p:nvPicPr>
          <p:cNvPr id="4" name="Picture 3" descr="ROC 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9705" y="698269"/>
            <a:ext cx="3151163" cy="3200400"/>
          </a:xfrm>
          <a:prstGeom prst="rect">
            <a:avLst/>
          </a:prstGeom>
        </p:spPr>
      </p:pic>
      <p:pic>
        <p:nvPicPr>
          <p:cNvPr id="5" name="Picture 4" descr="flights vs avgDel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8595" y="3707476"/>
            <a:ext cx="4793790" cy="3200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94B4838-02B6-5142-933E-1AF63BE4852C}"/>
              </a:ext>
            </a:extLst>
          </p:cNvPr>
          <p:cNvSpPr txBox="1"/>
          <p:nvPr/>
        </p:nvSpPr>
        <p:spPr>
          <a:xfrm>
            <a:off x="145840" y="3794760"/>
            <a:ext cx="398275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•</a:t>
            </a:r>
            <a:r>
              <a:rPr lang="en-US" sz="1400" dirty="0"/>
              <a:t> </a:t>
            </a:r>
            <a:r>
              <a:rPr lang="en-US" sz="1400" b="1" dirty="0"/>
              <a:t>Random Forest Classifier </a:t>
            </a:r>
            <a:r>
              <a:rPr lang="en-US" sz="1400" dirty="0"/>
              <a:t>achieves strong performance: AUC = 0.94 and high recall for delay months.</a:t>
            </a:r>
          </a:p>
          <a:p>
            <a:r>
              <a:rPr lang="en-US" sz="1400" b="1" dirty="0"/>
              <a:t>•</a:t>
            </a:r>
            <a:r>
              <a:rPr lang="en-US" sz="1400" dirty="0"/>
              <a:t> </a:t>
            </a:r>
            <a:r>
              <a:rPr lang="en-US" sz="1400" b="1" dirty="0"/>
              <a:t>Confusion matrix </a:t>
            </a:r>
            <a:r>
              <a:rPr lang="en-US" sz="1400" dirty="0"/>
              <a:t>shows most severe delay periods are correctly flagged with minimal false negatives.</a:t>
            </a:r>
          </a:p>
          <a:p>
            <a:r>
              <a:rPr lang="en-US" sz="1400" b="1" dirty="0"/>
              <a:t>• ROC curve </a:t>
            </a:r>
            <a:r>
              <a:rPr lang="en-US" sz="1400" dirty="0"/>
              <a:t>confirms excellent model discrimination between delayed and normal classes.</a:t>
            </a:r>
          </a:p>
          <a:p>
            <a:r>
              <a:rPr lang="en-US" sz="1400" b="1" dirty="0"/>
              <a:t>• Regression </a:t>
            </a:r>
            <a:r>
              <a:rPr lang="en-US" sz="1400" dirty="0"/>
              <a:t>plot shows low-traffic airports may face disproportionately high delays — ideal intervention targets.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3366"/>
                </a:solidFill>
                <a:latin typeface="Arial"/>
              </a:rPr>
              <a:t>Model Interpretability &amp; Operational Prioritization</a:t>
            </a:r>
          </a:p>
        </p:txBody>
      </p:sp>
      <p:pic>
        <p:nvPicPr>
          <p:cNvPr id="3" name="Picture 2" descr="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1" y="640080"/>
            <a:ext cx="6392377" cy="3200400"/>
          </a:xfrm>
          <a:prstGeom prst="rect">
            <a:avLst/>
          </a:prstGeom>
        </p:spPr>
      </p:pic>
      <p:pic>
        <p:nvPicPr>
          <p:cNvPr id="4" name="Picture 3" descr="top20Airport-byavgDel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440" y="3765664"/>
            <a:ext cx="5481744" cy="3092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9A1B27-5A03-9CEC-F398-13BE46D6C322}"/>
              </a:ext>
            </a:extLst>
          </p:cNvPr>
          <p:cNvSpPr txBox="1"/>
          <p:nvPr/>
        </p:nvSpPr>
        <p:spPr>
          <a:xfrm>
            <a:off x="10751" y="3765664"/>
            <a:ext cx="3532689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• SHAP </a:t>
            </a:r>
            <a:r>
              <a:rPr lang="en-US" sz="1400" dirty="0"/>
              <a:t>shows cancellations, flight volume, and carrier identity significantly influence delay predictions—these are operationally controllable.</a:t>
            </a:r>
          </a:p>
          <a:p>
            <a:r>
              <a:rPr lang="en-US" sz="1400" b="1" dirty="0"/>
              <a:t>• Lower flight volume (blue) </a:t>
            </a:r>
            <a:r>
              <a:rPr lang="en-US" sz="1400" dirty="0"/>
              <a:t>correlates with higher SHAP impact → small airports are delay-prone.</a:t>
            </a:r>
          </a:p>
          <a:p>
            <a:r>
              <a:rPr lang="en-US" sz="1400" b="1" dirty="0"/>
              <a:t>• Top 20 airport delay chart </a:t>
            </a:r>
            <a:r>
              <a:rPr lang="en-US" sz="1400" dirty="0"/>
              <a:t>confirms SHAP: smaller airports like YNG, IFP experience high average delay per flight.</a:t>
            </a:r>
          </a:p>
          <a:p>
            <a:r>
              <a:rPr lang="en-US" sz="1400" dirty="0"/>
              <a:t>• Interventions (resource reallocation, extra buffers) should prioritize these high-impact features and locations.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003366"/>
                </a:solidFill>
                <a:latin typeface="Arial"/>
              </a:rPr>
              <a:t>Actionable 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2790B4-D523-AE69-9BCD-D16FF9821BD4}"/>
              </a:ext>
            </a:extLst>
          </p:cNvPr>
          <p:cNvSpPr txBox="1"/>
          <p:nvPr/>
        </p:nvSpPr>
        <p:spPr>
          <a:xfrm>
            <a:off x="390697" y="1172891"/>
            <a:ext cx="753133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 </a:t>
            </a:r>
            <a:r>
              <a:rPr lang="en-IN" sz="1400" b="1" dirty="0"/>
              <a:t>Improve Turnaround Operations:</a:t>
            </a:r>
          </a:p>
          <a:p>
            <a:r>
              <a:rPr lang="en-IN" sz="1400" dirty="0"/>
              <a:t>• Prioritize reduction of carrier and late aircraft delays — the largest controllable causes.</a:t>
            </a:r>
          </a:p>
          <a:p>
            <a:r>
              <a:rPr lang="en-IN" sz="1400" dirty="0"/>
              <a:t>• Tactics: Enhance gate readiness, minimize crew switch delays, automate aircraft positioning.</a:t>
            </a:r>
          </a:p>
          <a:p>
            <a:endParaRPr lang="en-IN" sz="1400" dirty="0"/>
          </a:p>
          <a:p>
            <a:r>
              <a:rPr lang="en-IN" sz="1400" dirty="0"/>
              <a:t> </a:t>
            </a:r>
            <a:r>
              <a:rPr lang="en-IN" sz="1400" b="1" dirty="0"/>
              <a:t>Target High-Delay Airports:</a:t>
            </a:r>
          </a:p>
          <a:p>
            <a:r>
              <a:rPr lang="en-IN" sz="1400" dirty="0"/>
              <a:t>• Focus interventions at top-delay airports like YNG, IFP, PIE where </a:t>
            </a:r>
            <a:r>
              <a:rPr lang="en-IN" sz="1400" dirty="0" err="1"/>
              <a:t>avg</a:t>
            </a:r>
            <a:r>
              <a:rPr lang="en-IN" sz="1400" dirty="0"/>
              <a:t> delays exceed 30+ mins.</a:t>
            </a:r>
          </a:p>
          <a:p>
            <a:r>
              <a:rPr lang="en-IN" sz="1400" dirty="0"/>
              <a:t>• Even low-volume airports have outsized impact on delay averages and passenger satisfaction.</a:t>
            </a:r>
          </a:p>
          <a:p>
            <a:endParaRPr lang="en-IN" sz="1400" dirty="0"/>
          </a:p>
          <a:p>
            <a:r>
              <a:rPr lang="en-IN" sz="1400" b="1" dirty="0"/>
              <a:t> Leverage Explainable AI (SHAP + OAI):</a:t>
            </a:r>
          </a:p>
          <a:p>
            <a:r>
              <a:rPr lang="en-IN" sz="1400" dirty="0"/>
              <a:t>• Use SHAP to identify delay-driving features (e.g., cancellations, flight volume).</a:t>
            </a:r>
          </a:p>
          <a:p>
            <a:r>
              <a:rPr lang="en-IN" sz="1400" dirty="0"/>
              <a:t>• OAI helps prioritize controllable issues — shifting focus from weather to operational bottlenecks.</a:t>
            </a:r>
          </a:p>
          <a:p>
            <a:endParaRPr lang="en-IN" sz="1400" dirty="0"/>
          </a:p>
          <a:p>
            <a:r>
              <a:rPr lang="en-IN" sz="1400" b="1" dirty="0"/>
              <a:t> Align Resources with Temporal Patterns:</a:t>
            </a:r>
          </a:p>
          <a:p>
            <a:r>
              <a:rPr lang="en-IN" sz="1400" dirty="0"/>
              <a:t>• Peak delays in June–July suggest seasonal staffing/scheduling buffers are essential.</a:t>
            </a:r>
          </a:p>
          <a:p>
            <a:r>
              <a:rPr lang="en-IN" sz="1400" dirty="0"/>
              <a:t>• Match crew and gate logistics with historical monthly demand and delay trends.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763</Words>
  <Application>Microsoft Office PowerPoint</Application>
  <PresentationFormat>On-screen Show (4:3)</PresentationFormat>
  <Paragraphs>65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Devendra Garwa</dc:creator>
  <cp:keywords/>
  <dc:description>generated using python-pptx</dc:description>
  <cp:lastModifiedBy>Devendra Garwa</cp:lastModifiedBy>
  <cp:revision>3</cp:revision>
  <dcterms:created xsi:type="dcterms:W3CDTF">2013-01-27T09:14:16Z</dcterms:created>
  <dcterms:modified xsi:type="dcterms:W3CDTF">2025-06-16T17:13:54Z</dcterms:modified>
  <cp:category/>
</cp:coreProperties>
</file>